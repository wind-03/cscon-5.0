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2"/>
  </p:normalViewPr>
  <p:slideViewPr>
    <p:cSldViewPr snapToGrid="0" snapToObjects="1">
      <p:cViewPr varScale="1">
        <p:scale>
          <a:sx n="105" d="100"/>
          <a:sy n="105" d="100"/>
        </p:scale>
        <p:origin x="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23960" y="914400"/>
            <a:ext cx="2468880" cy="411480"/>
          </a:xfrm>
          <a:prstGeom prst="round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72600" y="1417320"/>
            <a:ext cx="1920240" cy="411480"/>
          </a:xfrm>
          <a:prstGeom prst="round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75320" y="5074920"/>
            <a:ext cx="3017520" cy="411480"/>
          </a:xfrm>
          <a:prstGeom prst="round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15400" y="4572000"/>
            <a:ext cx="2377440" cy="411480"/>
          </a:xfrm>
          <a:prstGeom prst="round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7863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BUILD.</a:t>
            </a:r>
          </a:p>
          <a:p>
            <a:pPr>
              <a:defRPr sz="5400" b="1">
                <a:solidFill>
                  <a:srgbClr val="DBA53B"/>
                </a:solidFill>
                <a:latin typeface="Aptos Display"/>
              </a:defRPr>
            </a:pPr>
            <a:r>
              <a:t>CREATE.</a:t>
            </a:r>
          </a:p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68973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8E2E7"/>
                </a:solidFill>
                <a:latin typeface="Aptos"/>
              </a:defRPr>
            </a:pPr>
            <a:r>
              <a:rPr dirty="0"/>
              <a:t>From a</a:t>
            </a:r>
            <a:r>
              <a:rPr lang="en-US" dirty="0"/>
              <a:t>n</a:t>
            </a:r>
            <a:r>
              <a:rPr dirty="0"/>
              <a:t> idea to a business that can survive, grow and matter.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rPr dirty="0"/>
              <a:t>The question is not: “Can you build it?”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The bigger question is: “Can anyone build a business around it?”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306324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E1F35"/>
                </a:solidFill>
                <a:latin typeface="Aptos Display"/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rPr dirty="0"/>
              <a:t>Turn an observed problem into a useful solution.</a:t>
            </a:r>
            <a:br>
              <a:rPr dirty="0"/>
            </a:br>
            <a:br>
              <a:rPr dirty="0"/>
            </a:br>
            <a:r>
              <a:rPr dirty="0"/>
              <a:t>Focus: problem, customer,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0312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103120"/>
            <a:ext cx="73152" cy="306324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E1F35"/>
                </a:solidFill>
                <a:latin typeface="Aptos Display"/>
              </a:defRPr>
            </a:pPr>
            <a:r>
              <a:t>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70632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Turn the solution into a repeatable business model.</a:t>
            </a:r>
            <a:br/>
            <a:br/>
            <a:r>
              <a:t>Focus: customer, revenue, trust.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10312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2103120"/>
            <a:ext cx="73152" cy="306324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22860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E1F35"/>
                </a:solidFill>
                <a:latin typeface="Aptos Display"/>
              </a:defRPr>
            </a:pPr>
            <a: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770632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Make the business bigger without making every problem bigger.</a:t>
            </a:r>
            <a:br/>
            <a:br/>
            <a:r>
              <a:t>Focus: systems, people, economics.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Before we talk business…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1E8EC"/>
                </a:solidFill>
                <a:latin typeface="Aptos"/>
              </a:defRPr>
            </a:pPr>
            <a:r>
              <a:t>Take 60 seconds. Think of one problem you see every week on campus.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789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“If you could remove one frustrating problem from student life at OAU, what would it be and who would pay to have it removed?”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7DEE3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7DEE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BUILD: Start with the problem, not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The best builders are often better observers than inventors.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039112"/>
            <a:ext cx="382219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6324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44952"/>
            <a:ext cx="382219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Define the customer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4050792"/>
            <a:ext cx="382219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Test willingness to pay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05740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039112"/>
            <a:ext cx="409651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Build the smallest useful version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306324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3044952"/>
            <a:ext cx="409651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Measure what people actually do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406908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50792"/>
            <a:ext cx="295568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rPr dirty="0"/>
              <a:t>Improve or change direction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257800"/>
            <a:ext cx="6309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26080" y="5257800"/>
            <a:ext cx="73152" cy="658368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5440680"/>
            <a:ext cx="5897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5925312"/>
            <a:ext cx="58978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C6974"/>
                </a:solidFill>
                <a:latin typeface="Aptos"/>
              </a:defRPr>
            </a:pPr>
            <a:r>
              <a:t>A working product is not proof of a working business.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BUILD •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Campus scenario: “The student marketplace”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Imagine a platform for buying, selling and renting items around campus.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324612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24912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Students list textbooks, calculators, mini-fridges, furniture and other useful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057400"/>
            <a:ext cx="73152" cy="324612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24912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Who pays? Buyer? Seller? A small transaction fee? Featured listings? Verification?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574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73152" cy="324612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REAL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24912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Can you get 20 people to use it? Then 200? Then 2,000? And still keep trust high?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CREATE: Turn usefulness into a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A business exists when value, customers and economics meet.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14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73152" cy="356616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 Display"/>
              </a:defRPr>
            </a:pPr>
            <a: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Who has the problem?</a:t>
            </a:r>
            <a:br/>
            <a:br/>
            <a:r>
              <a:t>How often?</a:t>
            </a:r>
            <a:br/>
            <a:br/>
            <a:r>
              <a:t>How painful?</a:t>
            </a:r>
            <a:br/>
            <a:br/>
            <a:r>
              <a:t>Who decides to buy?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514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965960"/>
            <a:ext cx="73152" cy="356616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 Display"/>
              </a:defRPr>
            </a:pPr>
            <a: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33472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What becomes easier, faster, safer or cheaper?</a:t>
            </a:r>
            <a:br/>
            <a:br/>
            <a:r>
              <a:t>Why should someone switch?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65960"/>
            <a:ext cx="2514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965960"/>
            <a:ext cx="73152" cy="3566160"/>
          </a:xfrm>
          <a:prstGeom prst="rect">
            <a:avLst/>
          </a:prstGeom>
          <a:solidFill>
            <a:srgbClr val="2E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33472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What is the customer paying for?</a:t>
            </a:r>
            <a:br/>
            <a:br/>
            <a:r>
              <a:t>One-off? Subscription? Commission? Enterprise contract?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965960"/>
            <a:ext cx="2514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400" y="1965960"/>
            <a:ext cx="73152" cy="356616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 Display"/>
              </a:defRPr>
            </a:pPr>
            <a:r>
              <a:t>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33472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What does it cost to acquire, serve and retain each customer?</a:t>
            </a:r>
            <a:br/>
            <a:br/>
            <a:r>
              <a:t>Does margin improve with growth?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CREATE •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Exercise: Pick one idea. Find the business inside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Use this 5-question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0E1F35"/>
                </a:solidFill>
                <a:latin typeface="Aptos"/>
              </a:defRPr>
            </a:pPr>
            <a:r>
              <a:t>•  1. Who is the first customer?</a:t>
            </a:r>
          </a:p>
          <a:p>
            <a:pPr>
              <a:spcAft>
                <a:spcPts val="1500"/>
              </a:spcAft>
              <a:defRPr sz="2000">
                <a:solidFill>
                  <a:srgbClr val="0E1F35"/>
                </a:solidFill>
                <a:latin typeface="Aptos"/>
              </a:defRPr>
            </a:pPr>
            <a:r>
              <a:t>•  2. What painful problem are you solving?</a:t>
            </a:r>
          </a:p>
          <a:p>
            <a:pPr>
              <a:spcAft>
                <a:spcPts val="1500"/>
              </a:spcAft>
              <a:defRPr sz="2000">
                <a:solidFill>
                  <a:srgbClr val="0E1F35"/>
                </a:solidFill>
                <a:latin typeface="Aptos"/>
              </a:defRPr>
            </a:pPr>
            <a:r>
              <a:t>•  3. What is the customer paying for?</a:t>
            </a:r>
          </a:p>
          <a:p>
            <a:pPr>
              <a:spcAft>
                <a:spcPts val="1500"/>
              </a:spcAft>
              <a:defRPr sz="2000">
                <a:solidFill>
                  <a:srgbClr val="0E1F35"/>
                </a:solidFill>
                <a:latin typeface="Aptos"/>
              </a:defRPr>
            </a:pPr>
            <a:r>
              <a:t>•  4. Why will they choose you instead of doing nothing?</a:t>
            </a:r>
          </a:p>
          <a:p>
            <a:pPr>
              <a:spcAft>
                <a:spcPts val="1500"/>
              </a:spcAft>
              <a:defRPr sz="2000">
                <a:solidFill>
                  <a:srgbClr val="0E1F35"/>
                </a:solidFill>
                <a:latin typeface="Aptos"/>
              </a:defRPr>
            </a:pPr>
            <a:r>
              <a:t>•  5. What must be true for the idea to make money?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349240"/>
            <a:ext cx="6309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5349240"/>
            <a:ext cx="73152" cy="64008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5532120"/>
            <a:ext cx="5897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1F35"/>
                </a:solidFill>
                <a:latin typeface="Aptos Display"/>
              </a:defRPr>
            </a:pPr>
            <a: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6016752"/>
            <a:ext cx="58978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rPr dirty="0"/>
              <a:t>If you cannot explain the business model simply, scaling it will not make it clearer.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CASE STUDY • PAYSTACK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Paystack: Build trust first. Scale what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A Lagos-born company that grew around a clear business problem: helping businesses accept payments online.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3832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352044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Online businesses needed reliable payment collection and a simpler way to get paid.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3832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73152" cy="352044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8775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Paystack reports reaching ₦1bn in monthly transaction value in 2017 and ₦10bn in 2018.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3832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73152" cy="352044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SCALE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8775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Stripe agreed to acquire Paystack in 2020 to accelerate commerce across Africa.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CASE STUDY • ANDELA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Andela: Scale a talent problem into a global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The product was not simply “software.” It was a business model connecting exceptional African talent to global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338328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Founded in Lagos in 2014; its first recruitment cycle hired six Nigerian engineers from 700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73152" cy="338328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The company expanded beyond Nigeria and eventually built a global talent marketplace.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73152" cy="338328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33472"/>
            <a:ext cx="30175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rPr dirty="0"/>
              <a:t>Scaling is often about designing a repeatable way to find, train, match and retain value not merely adding headcount.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CASE STUDY • INTERSWITCH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Interswitch: Build infrastructure, then build an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One of Nigeria’s clearest examples of growing from a focused business problem into a broad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338328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2002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Founded in 2002 and helped pioneer Nigeria’s electronic payments ecosystem.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73152" cy="338328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THEN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Expanded through products and infrastructure including Quickteller and Verve, and later regional partnerships.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73152" cy="3383280"/>
          </a:xfrm>
          <a:prstGeom prst="rect">
            <a:avLst/>
          </a:prstGeom>
          <a:solidFill>
            <a:srgbClr val="2E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Scale becomes powerful when other businesses can build on top of what you have created.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What does “scale” actually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1E8EC"/>
                </a:solidFill>
                <a:latin typeface="Aptos"/>
              </a:defRPr>
            </a:pPr>
            <a:r>
              <a:t>Scale is not simply “more customers.”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“Growth is adding more. Scale is adding more without adding the same amount of complexity, cost and chaos.”</a:t>
            </a:r>
          </a:p>
          <a:p>
            <a:pPr algn="ctr">
              <a:defRPr sz="1200">
                <a:solidFill>
                  <a:srgbClr val="DBA53B"/>
                </a:solidFill>
                <a:latin typeface="Aptos"/>
              </a:defRPr>
            </a:pPr>
            <a:r>
              <a:t>THE SCALE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7DEE3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7DEE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SCALE • THE HARD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The major problems that appear when a business grows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Every problem gets louder when volume increases.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73152" cy="169164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t>Can you acquire customers repeatedly, not just through friends?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73152" cy="169164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420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t>Does the customer experience remain good at 10× the volume?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87451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80" y="1874519"/>
            <a:ext cx="73152" cy="169164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42032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t>Can you hire, train, delegate and retain the right people?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931920"/>
            <a:ext cx="73152" cy="1691640"/>
          </a:xfrm>
          <a:prstGeom prst="rect">
            <a:avLst/>
          </a:prstGeom>
          <a:solidFill>
            <a:srgbClr val="2E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CASH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99431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t>Can the business fund growth without running out of money?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931920"/>
            <a:ext cx="73152" cy="169164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114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99431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t>Are important activities repeatable, measurable and documented?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9319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80" y="3931920"/>
            <a:ext cx="73152" cy="169164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4114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1F35"/>
                </a:solidFill>
                <a:latin typeface="Aptos Display"/>
              </a:defRPr>
            </a:pPr>
            <a:r>
              <a:t>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99431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974"/>
                </a:solidFill>
                <a:latin typeface="Aptos"/>
              </a:defRPr>
            </a:pPr>
            <a:r>
              <a:t>Can customers, partners and regulators trust you at larger scale?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SCALE •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The biggest scaling trap: confusing growth with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A business can grow faster and become weaker.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73152" cy="356616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MORE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Revenue is rising.</a:t>
            </a:r>
            <a:br/>
            <a:br/>
            <a:r>
              <a:t>But discounts are heavy, customer support is overwhelmed and cash is tight.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73152" cy="356616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MORE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87752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The team doubles.</a:t>
            </a:r>
            <a:br/>
            <a:br/>
            <a:r>
              <a:t>But decisions slow down, accountability blurs and the founder becomes the bottleneck.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73152" cy="356616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MORE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87752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The business enters new cities/countries.</a:t>
            </a:r>
            <a:br/>
            <a:br/>
            <a:r>
              <a:t>But customer needs, regulations, partners and economics differ.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SCALE •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If every new customer loses money, scaling can magnify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Know the economics before you chase the headline.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73152" cy="356616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UNIT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926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Ask:</a:t>
            </a:r>
            <a:br/>
            <a:br/>
            <a:r>
              <a:t>• What does one customer bring in?</a:t>
            </a:r>
            <a:br/>
            <a:r>
              <a:t>• What does it cost to acquire them?</a:t>
            </a:r>
            <a:br/>
            <a:r>
              <a:t>• What does it cost to serve them?</a:t>
            </a:r>
            <a:br/>
            <a:r>
              <a:t>• Do they stay long enough to create value?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73152" cy="356616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CASH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87752"/>
            <a:ext cx="2926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Profit on paper does not automatically mean cash in the bank.</a:t>
            </a:r>
            <a:br/>
            <a:br/>
            <a:r>
              <a:t>Growth can require inventory, staff, marketing, equipment and working capital before the customer pays.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73152" cy="356616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87752"/>
            <a:ext cx="292607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rPr dirty="0"/>
              <a:t>“If demand suddenly doubles next month, can the business afford to fulfil it and still make money?”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CASE STUDY • FLUTTERWAVE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Flutterwave: Scaling in Africa means navigating fragmentation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The lesson is bigger than fintech: expansion exposes differences you cannot ignore.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338328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ONE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A business wants to sell in another African market.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73152" cy="338328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NEW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Payment preferences, currencies, regulation, partnerships and customer expectations can differ by market.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73152" cy="338328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SCALE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33472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A repeatable business model must absorb local differences without rebuilding the entire company every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SCALE •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At some point, the founder becomes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74777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rPr dirty="0"/>
              <a:t>Not because the founder is bad </a:t>
            </a:r>
            <a:r>
              <a:rPr lang="en-US" dirty="0"/>
              <a:t>but</a:t>
            </a:r>
            <a:r>
              <a:rPr dirty="0"/>
              <a:t> because the company has outgrown the founder's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F2830"/>
                </a:solidFill>
                <a:latin typeface="Aptos"/>
              </a:defRPr>
            </a:pPr>
            <a:r>
              <a:t>•  Every decision comes back to one person.</a:t>
            </a:r>
          </a:p>
          <a:p>
            <a:pPr>
              <a:spcAft>
                <a:spcPts val="1100"/>
              </a:spcAft>
              <a:defRPr sz="1800">
                <a:solidFill>
                  <a:srgbClr val="1F2830"/>
                </a:solidFill>
                <a:latin typeface="Aptos"/>
              </a:defRPr>
            </a:pPr>
            <a:r>
              <a:t>•  Customers only trust the founder.</a:t>
            </a:r>
          </a:p>
          <a:p>
            <a:pPr>
              <a:spcAft>
                <a:spcPts val="1100"/>
              </a:spcAft>
              <a:defRPr sz="1800">
                <a:solidFill>
                  <a:srgbClr val="1F2830"/>
                </a:solidFill>
                <a:latin typeface="Aptos"/>
              </a:defRPr>
            </a:pPr>
            <a:r>
              <a:t>•  Sales depend on the founder's relationships.</a:t>
            </a:r>
          </a:p>
          <a:p>
            <a:pPr>
              <a:spcAft>
                <a:spcPts val="1100"/>
              </a:spcAft>
              <a:defRPr sz="1800">
                <a:solidFill>
                  <a:srgbClr val="1F2830"/>
                </a:solidFill>
                <a:latin typeface="Aptos"/>
              </a:defRPr>
            </a:pPr>
            <a:r>
              <a:t>•  New employees wait for instructions.</a:t>
            </a:r>
          </a:p>
          <a:p>
            <a:pPr>
              <a:spcAft>
                <a:spcPts val="1100"/>
              </a:spcAft>
              <a:defRPr sz="1800">
                <a:solidFill>
                  <a:srgbClr val="1F2830"/>
                </a:solidFill>
                <a:latin typeface="Aptos"/>
              </a:defRPr>
            </a:pPr>
            <a:r>
              <a:t>•  Important knowledge lives in people's heads instead of the business.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73152" cy="338328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1031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87752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Founder-led → Team-led</a:t>
            </a:r>
            <a:br/>
            <a:br/>
            <a:r>
              <a:t>Informal → Repeatable</a:t>
            </a:r>
            <a:br/>
            <a:br/>
            <a:r>
              <a:t>Heroics → Systems</a:t>
            </a:r>
            <a:br/>
            <a:br/>
            <a:r>
              <a:t>Personal relationships → Institutional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SCALE •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Before you scale, ask these 10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72789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rPr dirty="0"/>
              <a:t>If several answers are “no,” your next move may be to strengthen the foundation not expand.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1. Do customers repeatedly want this?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2. Can we explain why they buy?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3. Does the business make attractive economics?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4. Can we deliver consistently?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5. Can someone other than the founder run key activities?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6. Can we recruit and train people faster than we create chaos?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7. Do we know our critical numbers?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8. Can customer support keep up?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9. Are we prepared for regulation and reputation risk?</a:t>
            </a:r>
          </a:p>
          <a:p>
            <a:pPr>
              <a:spcAft>
                <a:spcPts val="500"/>
              </a:spcAft>
              <a:defRPr sz="1500">
                <a:solidFill>
                  <a:srgbClr val="0E1F35"/>
                </a:solidFill>
                <a:latin typeface="Aptos"/>
              </a:defRPr>
            </a:pPr>
            <a:r>
              <a:t>•  10. What breaks first if demand becomes 10× bigger?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INTERACTIVE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CASE ROOM: You have 30 minutes to solve a 10×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1E8EC"/>
                </a:solidFill>
                <a:latin typeface="Aptos"/>
              </a:defRPr>
            </a:pPr>
            <a:r>
              <a:t>Imagine your student venture suddenly receives 10× today's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383280" cy="3520440"/>
          </a:xfrm>
          <a:prstGeom prst="roundRect">
            <a:avLst/>
          </a:prstGeom>
          <a:solidFill>
            <a:srgbClr val="192D43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73152" cy="352044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rPr dirty="0"/>
              <a:t>Customers jump from 100 to 1,000.</a:t>
            </a:r>
            <a:br>
              <a:rPr dirty="0"/>
            </a:br>
            <a:br>
              <a:rPr dirty="0"/>
            </a:br>
            <a:r>
              <a:rPr dirty="0"/>
              <a:t>What breaks first?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383280" cy="3520440"/>
          </a:xfrm>
          <a:prstGeom prst="roundRect">
            <a:avLst/>
          </a:prstGeom>
          <a:solidFill>
            <a:srgbClr val="192D43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73152" cy="352044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42032"/>
            <a:ext cx="2971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rPr dirty="0"/>
              <a:t>You have limited cash.</a:t>
            </a:r>
            <a:br>
              <a:rPr dirty="0"/>
            </a:br>
            <a:br>
              <a:rPr dirty="0"/>
            </a:br>
            <a:r>
              <a:rPr dirty="0"/>
              <a:t>What do you fix first </a:t>
            </a:r>
            <a:r>
              <a:rPr lang="en-US" dirty="0"/>
              <a:t>- </a:t>
            </a:r>
            <a:r>
              <a:rPr dirty="0"/>
              <a:t>product, people, process, marketing or finance?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383280" cy="3520440"/>
          </a:xfrm>
          <a:prstGeom prst="roundRect">
            <a:avLst/>
          </a:prstGeom>
          <a:solidFill>
            <a:srgbClr val="192D43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73152" cy="352044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4203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A competitor copies you tomorrow.</a:t>
            </a:r>
            <a:br/>
            <a:br/>
            <a:r>
              <a:t>What makes your business difficult to replace?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7DEE3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7DEE3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E1F35"/>
                </a:solidFill>
                <a:latin typeface="Aptos"/>
              </a:defRPr>
            </a:pPr>
            <a:r>
              <a:t>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What I want you to leave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Your degree can help you build. Business thinking helps you build something that lasts.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342900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DON'T 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You do not need permission to notice a problem and test a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73152" cy="3429000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DON'T FALL IN LOVE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87752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Love the problem you are solving more than the first version of your 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73152" cy="3429000"/>
          </a:xfrm>
          <a:prstGeom prst="rect">
            <a:avLst/>
          </a:prstGeom>
          <a:solidFill>
            <a:srgbClr val="2E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1F35"/>
                </a:solidFill>
                <a:latin typeface="Aptos Display"/>
              </a:defRPr>
            </a:pPr>
            <a:r>
              <a:t>BUILD TO LAST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87752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974"/>
                </a:solidFill>
                <a:latin typeface="Aptos"/>
              </a:defRPr>
            </a:pPr>
            <a:r>
              <a:t>The goal is not to become busy. The goal is to create value that can survive beyond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9144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E1F35"/>
                </a:solidFill>
                <a:latin typeface="Aptos Display"/>
              </a:defRPr>
            </a:pPr>
            <a:r>
              <a:t>The BUILD → CREATE → SCALE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974"/>
                </a:solidFill>
                <a:latin typeface="Aptos"/>
              </a:defRPr>
            </a:pPr>
            <a:r>
              <a:t>A simple framework to carry into your next idea.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039112"/>
            <a:ext cx="409651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BUILD: Solve a real problem.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54680"/>
            <a:ext cx="566928" cy="566928"/>
          </a:xfrm>
          <a:prstGeom prst="ellipse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136392"/>
            <a:ext cx="409651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t>CREATE: Prove people value it enough to pay.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4233672"/>
            <a:ext cx="390696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rPr dirty="0"/>
              <a:t>SCALE: Make delivery repeatable and </a:t>
            </a:r>
            <a:endParaRPr lang="en-US" dirty="0"/>
          </a:p>
          <a:p>
            <a:pPr>
              <a:defRPr sz="1700" b="1">
                <a:solidFill>
                  <a:srgbClr val="0E1F35"/>
                </a:solidFill>
                <a:latin typeface="Aptos"/>
              </a:defRPr>
            </a:pPr>
            <a:r>
              <a:rPr dirty="0"/>
              <a:t>economics healthy.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48463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5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73152" cy="3108960"/>
          </a:xfrm>
          <a:prstGeom prst="rect">
            <a:avLst/>
          </a:prstGeom>
          <a:solidFill>
            <a:srgbClr val="00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1F35"/>
                </a:solidFill>
                <a:latin typeface="Aptos Display"/>
              </a:defRPr>
            </a:pPr>
            <a:r>
              <a:rPr dirty="0"/>
              <a:t>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79192"/>
            <a:ext cx="4434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974"/>
                </a:solidFill>
                <a:latin typeface="Aptos"/>
              </a:defRPr>
            </a:pPr>
            <a:r>
              <a:rPr dirty="0"/>
              <a:t>Listen → Test → Learn → Improve → Repeat</a:t>
            </a:r>
            <a:br>
              <a:rPr dirty="0"/>
            </a:br>
            <a:br>
              <a:rPr dirty="0"/>
            </a:br>
            <a:r>
              <a:rPr dirty="0"/>
              <a:t>Then grow.</a:t>
            </a:r>
            <a:br>
              <a:rPr dirty="0"/>
            </a:br>
            <a:br>
              <a:rPr dirty="0"/>
            </a:br>
            <a:r>
              <a:rPr dirty="0"/>
              <a:t>Then simplify.</a:t>
            </a:r>
            <a:br>
              <a:rPr dirty="0"/>
            </a:br>
            <a:br>
              <a:rPr dirty="0"/>
            </a:br>
            <a:r>
              <a:rPr dirty="0"/>
              <a:t>Then grow again.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4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97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BA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Your first company may start as a problem you refuse to ignore.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887" y="2102780"/>
            <a:ext cx="10789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“Build something useful. Create something valuable. Scale something that can last.”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7DEE3"/>
                </a:solidFill>
                <a:latin typeface="Aptos"/>
              </a:defRPr>
            </a:pPr>
            <a:r>
              <a:t>SIR CHARLES OMIYALE FOUNDATION  •  BUILD. CREATE.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7DEE3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1905</Words>
  <Application>Microsoft Macintosh PowerPoint</Application>
  <PresentationFormat>Widescreen</PresentationFormat>
  <Paragraphs>230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BUILD. CREATE. SCALE.</dc:title>
  <dc:subject>Business-focused interactive speaking session for Computer Engineering students</dc:subject>
  <dc:creator>Sir Charles Omiyale Foundation</dc:creator>
  <cp:keywords>entrepreneurship, business, scaling, students, computer engineering, OAU, Nigeria</cp:keywords>
  <dc:description>generated using python-pptx</dc:description>
  <cp:lastModifiedBy>mac</cp:lastModifiedBy>
  <cp:revision>2</cp:revision>
  <dcterms:created xsi:type="dcterms:W3CDTF">2013-01-27T09:14:16Z</dcterms:created>
  <dcterms:modified xsi:type="dcterms:W3CDTF">2026-09-02T01:39:16Z</dcterms:modified>
  <cp:category/>
</cp:coreProperties>
</file>